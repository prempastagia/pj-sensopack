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-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88952" cy="6858000"/>
          </a:xfrm>
          <a:prstGeom prst="rect">
            <a:avLst/>
          </a:prstGeom>
          <a:solidFill>
            <a:srgbClr val="07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F2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4114800" cy="640080"/>
          </a:xfrm>
          <a:prstGeom prst="rect">
            <a:avLst/>
          </a:prstGeom>
          <a:solidFill>
            <a:srgbClr val="0F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94960" y="6400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0FAF4"/>
                </a:solidFill>
                <a:latin typeface="Calibri"/>
              </a:rPr>
              <a:t>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8531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22C55E"/>
                </a:solidFill>
                <a:latin typeface="Georgia"/>
              </a:rPr>
              <a:t>SensoPack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260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D5B5"/>
                </a:solidFill>
                <a:latin typeface="Calibri"/>
              </a:rPr>
              <a:t>Smart Sensor-Embedded Packaging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832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8F6A"/>
                </a:solidFill>
                <a:latin typeface="Calibri"/>
              </a:rPr>
              <a:t>Solving Shrimp Spoilage in the Export 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30936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5C8F6A"/>
                </a:solidFill>
                <a:latin typeface="Calibri"/>
              </a:rPr>
              <a:t>India • FY 2024–25 • ₹62,408 Crore Seafood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FAF4"/>
                </a:solidFill>
                <a:latin typeface="Georgia"/>
              </a:rPr>
              <a:t>A $1 Trillion Crisis in Every Fishing Trawler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146304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C55E"/>
                </a:solidFill>
                <a:latin typeface="Calibri"/>
              </a:rPr>
              <a:t>1,300 MT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EFAC"/>
                </a:solidFill>
                <a:latin typeface="Calibri"/>
              </a:rPr>
              <a:t>Million Tonnes Food Lost/Year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Global food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657600" cy="146304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C55E"/>
                </a:solidFill>
                <a:latin typeface="Calibri"/>
              </a:rPr>
              <a:t>$1 Trillion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EFAC"/>
                </a:solidFill>
                <a:latin typeface="Calibri"/>
              </a:rPr>
              <a:t>Economic Loss Annually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Global spoilage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657600" cy="146304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55448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2C55E"/>
                </a:solidFill>
                <a:latin typeface="Calibri"/>
              </a:rPr>
              <a:t>8–10%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48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EFAC"/>
                </a:solidFill>
                <a:latin typeface="Calibri"/>
              </a:rPr>
              <a:t>Of Global GHG Emissions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From food waste alone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548640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108960"/>
            <a:ext cx="73152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🇮🇳 India Shrimp Export (FY 2024–25)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₹62,408 crore (US$7.45B) | 1.69M MT exported
Shrimp = 69.46% of dollar earnings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108960"/>
            <a:ext cx="548640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108960"/>
            <a:ext cx="73152" cy="10972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💀 Post-Harvest Loss (India)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Over ₹15,000 crore lost annually
Shrimp spoils in 3–14 days depending on temperature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THE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AF4"/>
                </a:solidFill>
                <a:latin typeface="Georgia"/>
              </a:rPr>
              <a:t>The 4-Stage Shrimp Spoilage Cascade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743200" cy="20116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AF4"/>
                </a:solidFill>
                <a:latin typeface="Calibri"/>
              </a:rPr>
              <a:t>⏱️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745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6EFAC"/>
                </a:solidFill>
                <a:latin typeface="Calibri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AF4"/>
                </a:solidFill>
                <a:latin typeface="Calibri"/>
              </a:rPr>
              <a:t>Rigor Mortis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Minutes–Hours. Muscle protein breakdown loosens texture; substrate for enzymes released.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371600"/>
            <a:ext cx="2743200" cy="20116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AF4"/>
                </a:solidFill>
                <a:latin typeface="Calibri"/>
              </a:rPr>
              <a:t>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745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6EFAC"/>
                </a:solidFill>
                <a:latin typeface="Calibri"/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AF4"/>
                </a:solidFill>
                <a:latin typeface="Calibri"/>
              </a:rPr>
              <a:t>Autolysis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591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Cathepsins degrade myofibrillar proteins, releasing free amino acids as bacterial substrates.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2743200" cy="20116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AF4"/>
                </a:solidFill>
                <a:latin typeface="Calibri"/>
              </a:rPr>
              <a:t>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745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6EFAC"/>
                </a:solidFill>
                <a:latin typeface="Calibri"/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AF4"/>
                </a:solidFill>
                <a:latin typeface="Calibri"/>
              </a:rPr>
              <a:t>Microbial Spoilage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591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Pseudomonas &amp; Shewanella produce TMA, DMA, H₂S, putrescine, cadaverine volatiles.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371600"/>
            <a:ext cx="2743200" cy="20116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0FAF4"/>
                </a:solidFill>
                <a:latin typeface="Calibri"/>
              </a:rPr>
              <a:t>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8745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6EFAC"/>
                </a:solidFill>
                <a:latin typeface="Calibri"/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084831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FAF4"/>
                </a:solidFill>
                <a:latin typeface="Calibri"/>
              </a:rPr>
              <a:t>Oxidation &amp; Melanosis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35915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Lipid rancidity + black spot from polyphenol oxidase → export rejection trigger.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KEY SPOILAGE BIOMARKER THRESHOLDS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2743200" cy="82296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≥30 mg/100g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25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TVB-N limit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931920"/>
            <a:ext cx="2743200" cy="82296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2900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≥3 mg/100g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325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TMA onset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931920"/>
            <a:ext cx="2743200" cy="82296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≥7 log CFU/g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25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Total Viable 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931920"/>
            <a:ext cx="2743200" cy="82296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8116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  <a:latin typeface="Calibri"/>
              </a:rPr>
              <a:t>pH &gt;7.5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3251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Correlates TVB-N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AF4"/>
                </a:solidFill>
                <a:latin typeface="Georgia"/>
              </a:rPr>
              <a:t>Why Current Solutions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657600" cy="1828800"/>
          </a:xfrm>
          <a:prstGeom prst="rect">
            <a:avLst/>
          </a:prstGeom>
          <a:solidFill>
            <a:srgbClr val="1E0A0A"/>
          </a:solidFill>
          <a:ln w="6350">
            <a:solidFill>
              <a:srgbClr val="7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AF4"/>
                </a:solidFill>
                <a:latin typeface="Calibri"/>
              </a:rPr>
              <a:t>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A5A5"/>
                </a:solidFill>
                <a:latin typeface="Calibri"/>
              </a:rPr>
              <a:t>TrackingPacking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A5A5"/>
                </a:solidFill>
                <a:latin typeface="Calibri"/>
              </a:rPr>
              <a:t>Cost: &gt;$2.50/unit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0487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Too expensive for fast-moving consumer goods. A shrimp pack retails at $3–5; sensor cannot exceed 5–8% of product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3657600" cy="1828800"/>
          </a:xfrm>
          <a:prstGeom prst="rect">
            <a:avLst/>
          </a:prstGeom>
          <a:solidFill>
            <a:srgbClr val="1E0A0A"/>
          </a:solidFill>
          <a:ln w="6350">
            <a:solidFill>
              <a:srgbClr val="7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AF4"/>
                </a:solidFill>
                <a:latin typeface="Calibri"/>
              </a:rPr>
              <a:t>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A5A5"/>
                </a:solidFill>
                <a:latin typeface="Calibri"/>
              </a:rPr>
              <a:t>Senoptica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48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A5A5"/>
                </a:solidFill>
                <a:latin typeface="Calibri"/>
              </a:rPr>
              <a:t>Requires optical scanners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0487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Consumer smartphones cannot read it. Only works at specialized industrial checkpoints — useless for retail consumers.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657600" cy="1828800"/>
          </a:xfrm>
          <a:prstGeom prst="rect">
            <a:avLst/>
          </a:prstGeom>
          <a:solidFill>
            <a:srgbClr val="1E0A0A"/>
          </a:solidFill>
          <a:ln w="6350">
            <a:solidFill>
              <a:srgbClr val="78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463040"/>
            <a:ext cx="36576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0FAF4"/>
                </a:solidFill>
                <a:latin typeface="Calibri"/>
              </a:rPr>
              <a:t>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CA5A5"/>
                </a:solidFill>
                <a:latin typeface="Calibri"/>
              </a:rPr>
              <a:t>Blakbear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4884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CA5A5"/>
                </a:solidFill>
                <a:latin typeface="Calibri"/>
              </a:rPr>
              <a:t>Not packaging-integrated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04872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Separate add-on tag not embedded in the manufacturing process. Adds steps and cost to packaging production lines.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474720"/>
            <a:ext cx="11430000" cy="1005840"/>
          </a:xfrm>
          <a:prstGeom prst="rect">
            <a:avLst/>
          </a:prstGeom>
          <a:solidFill>
            <a:srgbClr val="0A2312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20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🔑 Root Cause: Information Asymmetry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5B5"/>
                </a:solidFill>
                <a:latin typeface="Calibri"/>
              </a:rPr>
              <a:t>The supply chain relies on static "Best By" labels ignoring real-world temperature excursions. MAP fails with invisible breaches of just 0.1–0.3% — current QC misses 70% of the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0FAF4"/>
                </a:solidFill>
                <a:latin typeface="Georgia"/>
              </a:rPr>
              <a:t>SensoPack: The 4-Layer Smart Guardian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7315200" cy="9601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73152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Layer 1 — 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AF4"/>
                </a:solidFill>
                <a:latin typeface="Calibri"/>
              </a:rPr>
              <a:t>Slow Spoilage Chemically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Chitosan + EO antimicrobial coat • AgNP films • MAP O₂:N₂ 40:60 ratio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7315200" cy="9601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73152" cy="9601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Layer 2 — Intelligent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AF4"/>
                </a:solidFill>
                <a:latin typeface="Calibri"/>
              </a:rPr>
              <a:t>Detect Spoilage in Real-Time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MIP-TMA electrochemical sensor • O₂ MAP sensor • Colorimetric amine indicator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7315200" cy="9601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73152" cy="9601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7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Layer 3 — TTI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136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AF4"/>
                </a:solidFill>
                <a:latin typeface="Calibri"/>
              </a:rPr>
              <a:t>Cold-Chain History Guardian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Diffusion-based TTI • Arrhenius-matched enzyme TTI • Digital TTI circuit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7315200" cy="9601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4663440"/>
            <a:ext cx="73152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7091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Layer 4 — NFC 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109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0FAF4"/>
                </a:solidFill>
                <a:latin typeface="Calibri"/>
              </a:rPr>
              <a:t>Communicate &amp; 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578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130nm CMOS ASIC • Sub-50µA power • 1.2mAh thin-film battery • 730-day life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325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KEY METRICS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1600200"/>
            <a:ext cx="3566160" cy="73152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16367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  <a:latin typeface="Calibri"/>
              </a:rPr>
              <a:t>92.7%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011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Shelf-life accuracy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2468880"/>
            <a:ext cx="3566160" cy="73152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25054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  <a:latin typeface="Calibri"/>
              </a:rPr>
              <a:t>±6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8803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Prediction window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3337560"/>
            <a:ext cx="3566160" cy="73152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33741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  <a:latin typeface="Calibri"/>
              </a:rPr>
              <a:t>47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749039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Food categories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4206240"/>
            <a:ext cx="3566160" cy="73152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66760" y="42428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  <a:latin typeface="Calibri"/>
              </a:rPr>
              <a:t>34%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61772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Waste reduction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5074920"/>
            <a:ext cx="3566160" cy="731520"/>
          </a:xfrm>
          <a:prstGeom prst="rect">
            <a:avLst/>
          </a:prstGeom>
          <a:solidFill>
            <a:srgbClr val="0A2812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66760" y="51114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  <a:latin typeface="Calibri"/>
              </a:rPr>
              <a:t>ISO 4833-1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54864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LAYER 1: ACTIVE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AF4"/>
                </a:solidFill>
                <a:latin typeface="Georgia"/>
              </a:rPr>
              <a:t>Slowing the Spoilage Cascade Chemically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182880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FAF4"/>
                </a:solidFill>
                <a:latin typeface="Calibri"/>
              </a:rPr>
              <a:t>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105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6EFAC"/>
                </a:solidFill>
                <a:latin typeface="Calibri"/>
              </a:rPr>
              <a:t>Chitosan + EO Coatings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3055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Thymol, carvacrol, clove oil disrupt bacterial membranes. Extends shrimp shelf life from ~8 to 16 days under chilled storage.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182880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FAF4"/>
                </a:solidFill>
                <a:latin typeface="Calibri"/>
              </a:rPr>
              <a:t>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105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6EFAC"/>
                </a:solidFill>
                <a:latin typeface="Calibri"/>
              </a:rPr>
              <a:t>Electrospun Nanofibers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3055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Xanthan-gelatin + Ziziphora oil + carbon dots. TVB-N below limit for 13 days vs 7–8 days controls. Controlled EO release.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182880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0FAF4"/>
                </a:solidFill>
                <a:latin typeface="Calibri"/>
              </a:rPr>
              <a:t>⚗️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105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6EFAC"/>
                </a:solidFill>
                <a:latin typeface="Calibri"/>
              </a:rPr>
              <a:t>Nanoparticle Films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30552"/>
            <a:ext cx="3474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AgNP-PLA or ZnO-PP composite. Significantly lower peroxide values through 9+ days. Food-grade bio-synthesized options.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383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C8F6A"/>
                </a:solidFill>
                <a:latin typeface="Calibri"/>
              </a:rPr>
              <a:t>SHELF LIFE EXTENSION COMPARISON (DAYS, CHILLED STORAGE)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130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Control (no treatment)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822191"/>
            <a:ext cx="7772400" cy="292608"/>
          </a:xfrm>
          <a:prstGeom prst="rect">
            <a:avLst/>
          </a:prstGeom>
          <a:solidFill>
            <a:srgbClr val="0A2312"/>
          </a:solidFill>
          <a:ln w="6350">
            <a:solidFill>
              <a:srgbClr val="1E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83280" y="3822191"/>
            <a:ext cx="3419856" cy="2926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92840" y="381304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  <a:latin typeface="Calibri"/>
              </a:rPr>
              <a:t>8d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36168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Chitosan + EO coating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370831"/>
            <a:ext cx="7772400" cy="292608"/>
          </a:xfrm>
          <a:prstGeom prst="rect">
            <a:avLst/>
          </a:prstGeom>
          <a:solidFill>
            <a:srgbClr val="0A2312"/>
          </a:solidFill>
          <a:ln w="6350">
            <a:solidFill>
              <a:srgbClr val="1E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383280" y="4370831"/>
            <a:ext cx="6062472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92840" y="43616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16d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9103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Electrospun nanofiber mat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919472"/>
            <a:ext cx="7772400" cy="292608"/>
          </a:xfrm>
          <a:prstGeom prst="rect">
            <a:avLst/>
          </a:prstGeom>
          <a:solidFill>
            <a:srgbClr val="0A2312"/>
          </a:solidFill>
          <a:ln w="6350">
            <a:solidFill>
              <a:srgbClr val="1E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383280" y="4919472"/>
            <a:ext cx="5207508" cy="2926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92840" y="491032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  <a:latin typeface="Calibri"/>
              </a:rPr>
              <a:t>13d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589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AgNP-PLA film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5468112"/>
            <a:ext cx="7772400" cy="292608"/>
          </a:xfrm>
          <a:prstGeom prst="rect">
            <a:avLst/>
          </a:prstGeom>
          <a:solidFill>
            <a:srgbClr val="0A2312"/>
          </a:solidFill>
          <a:ln w="6350">
            <a:solidFill>
              <a:srgbClr val="1E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383280" y="5468112"/>
            <a:ext cx="3886200" cy="292608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92840" y="545896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9d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LAYER 2: INTELLIGENT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AF4"/>
                </a:solidFill>
                <a:latin typeface="Georgia"/>
              </a:rPr>
              <a:t>4 Transduction Platforms for Real-Time Spoilage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577840" cy="20116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🌈 Colorimetric pH/Amine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0A3214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22C55E"/>
                </a:solidFill>
                <a:latin typeface="Calibri"/>
              </a:rPr>
              <a:t>&lt;₹5/pack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Anthocyanin patches (butterfly pea, roselle) change colour purple→olive in headspace. Highly correlated with TVB-N &amp; TVC. Naked-eye readable — no electronics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577840" cy="20116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463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✨ Fluorescence Sensors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1481328"/>
            <a:ext cx="1097280" cy="256032"/>
          </a:xfrm>
          <a:prstGeom prst="rect">
            <a:avLst/>
          </a:prstGeom>
          <a:solidFill>
            <a:srgbClr val="0A3214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0" y="1481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22C55E"/>
                </a:solidFill>
                <a:latin typeface="Calibri"/>
              </a:rPr>
              <a:t>LOD: 124 ppb TMA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Resorufin-RFCC probe: 593 nm turn-on with cadaverine. MOF@MIP array: r = 0.937 correlation with TVB-N. Smartphone-camera readable with excitation filter.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577840" cy="20116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7490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🔬 MIP Electrochemical (TMA)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767328"/>
            <a:ext cx="1097280" cy="256032"/>
          </a:xfrm>
          <a:prstGeom prst="rect">
            <a:avLst/>
          </a:prstGeom>
          <a:solidFill>
            <a:srgbClr val="0A3214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767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22C55E"/>
                </a:solidFill>
                <a:latin typeface="Calibri"/>
              </a:rPr>
              <a:t>Core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PANI-ZnSNP MIP on ITO: 5–180 µM linear range, LOD 4.35 µM. Screen-printed on flexible substrate → laminated inside lidding film → connected to NFC ASIC.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577840" cy="20116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7490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EFAC"/>
                </a:solidFill>
                <a:latin typeface="Calibri"/>
              </a:rPr>
              <a:t>👃 Electronic Nose (e-Nose)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0" y="3767328"/>
            <a:ext cx="1097280" cy="256032"/>
          </a:xfrm>
          <a:prstGeom prst="rect">
            <a:avLst/>
          </a:prstGeom>
          <a:solidFill>
            <a:srgbClr val="0A3214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0" y="3767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22C55E"/>
                </a:solidFill>
                <a:latin typeface="Calibri"/>
              </a:rPr>
              <a:t>LOD: 4×10⁴ CFU/g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16052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OFET metalloporphyrin receptor array specific to L. vannamei. Detects spoilage 2 orders below consumer threshold. Miniaturized for headspace embedding.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LAYERS 3 &amp; 4: TTI + NFC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AF4"/>
                </a:solidFill>
                <a:latin typeface="Georgia"/>
              </a:rPr>
              <a:t>Cold-Chain TTI Guardian + NFC Digital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⏱️ TIME-TEMPERATURE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394960" cy="11887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6400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465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Arrhenius Kinetics (Why TTI?)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At 0°C shelf life = 14 days; at 5°C = 7 days; at 10°C = only 3–4 days. Static 'Best By' label ignores this entirely.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63240"/>
            <a:ext cx="5394960" cy="11887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6400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181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Diffusion-Based TTI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Dye migrates through microporous membrane. Stops below threshold, resumes above. Accumulates cumulative excursion time visually.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5394960" cy="11887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64008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48970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Enzyme-Based TTI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00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Activation energy matched to shrimp kinetics (50–90 kJ/mol). Digital TTI circuit connected to NFC ASIC encodes thermal history as a number.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325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📡 NFC ASIC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5577840" cy="29260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18105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5B5"/>
                </a:solidFill>
                <a:latin typeface="Calibri"/>
              </a:rPr>
              <a:t>Process node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81051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  <a:latin typeface="Calibri"/>
              </a:rPr>
              <a:t>130nm CMOS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2157984"/>
            <a:ext cx="5394960" cy="9144"/>
          </a:xfrm>
          <a:prstGeom prst="rect">
            <a:avLst/>
          </a:prstGeom>
          <a:solidFill>
            <a:srgbClr val="22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5B5"/>
                </a:solidFill>
                <a:latin typeface="Calibri"/>
              </a:rPr>
              <a:t>Power consumption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240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  <a:latin typeface="Calibri"/>
              </a:rPr>
              <a:t>&lt;50 µA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587752"/>
            <a:ext cx="5394960" cy="9144"/>
          </a:xfrm>
          <a:prstGeom prst="rect">
            <a:avLst/>
          </a:prstGeom>
          <a:solidFill>
            <a:srgbClr val="22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670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5B5"/>
                </a:solidFill>
                <a:latin typeface="Calibri"/>
              </a:rPr>
              <a:t>Battery capacity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26700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  <a:latin typeface="Calibri"/>
              </a:rPr>
              <a:t>1.2 mAh thin-film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017520"/>
            <a:ext cx="5394960" cy="9144"/>
          </a:xfrm>
          <a:prstGeom prst="rect">
            <a:avLst/>
          </a:prstGeom>
          <a:solidFill>
            <a:srgbClr val="22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099815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5B5"/>
                </a:solidFill>
                <a:latin typeface="Calibri"/>
              </a:rPr>
              <a:t>Operating life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099815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  <a:latin typeface="Calibri"/>
              </a:rPr>
              <a:t>730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447287"/>
            <a:ext cx="5394960" cy="9144"/>
          </a:xfrm>
          <a:prstGeom prst="rect">
            <a:avLst/>
          </a:prstGeom>
          <a:solidFill>
            <a:srgbClr val="22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3529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5B5"/>
                </a:solidFill>
                <a:latin typeface="Calibri"/>
              </a:rPr>
              <a:t>NFC 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5295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  <a:latin typeface="Calibri"/>
              </a:rPr>
              <a:t>13.56 MHz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877056"/>
            <a:ext cx="5394960" cy="9144"/>
          </a:xfrm>
          <a:prstGeom prst="rect">
            <a:avLst/>
          </a:prstGeom>
          <a:solidFill>
            <a:srgbClr val="22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3959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8D5B5"/>
                </a:solidFill>
                <a:latin typeface="Calibri"/>
              </a:rPr>
              <a:t>Expert assessment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9593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2C55E"/>
                </a:solidFill>
                <a:latin typeface="Calibri"/>
              </a:rPr>
              <a:t>"Remarkable integration"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800600"/>
            <a:ext cx="5577840" cy="914400"/>
          </a:xfrm>
          <a:prstGeom prst="rect">
            <a:avLst/>
          </a:prstGeom>
          <a:solidFill>
            <a:srgbClr val="0A2812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4800600"/>
            <a:ext cx="64008" cy="914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48463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📱 Smartphone NFC Tap Outputs: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120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Current TMA level  •  Cumulative thermal excursion  •  O₂ MAP breach alert  •  Arrhenius-Gompertz AI shelf-life estimate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RESEARCH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dirty="0">
                <a:solidFill>
                  <a:srgbClr val="F0FAF4"/>
                </a:solidFill>
                <a:latin typeface="Georgia"/>
              </a:rPr>
              <a:t>Surface sterilization</a:t>
            </a:r>
            <a:r>
              <a:rPr sz="2400" b="1" i="0" dirty="0">
                <a:solidFill>
                  <a:srgbClr val="F0FAF4"/>
                </a:solidFill>
                <a:latin typeface="Georgia"/>
              </a:rPr>
              <a:t> + </a:t>
            </a:r>
            <a:r>
              <a:rPr sz="2400" b="1" i="0" dirty="0" err="1">
                <a:solidFill>
                  <a:srgbClr val="F0FAF4"/>
                </a:solidFill>
                <a:latin typeface="Georgia"/>
              </a:rPr>
              <a:t>SensoPack</a:t>
            </a:r>
            <a:r>
              <a:rPr sz="2400" b="1" i="0" dirty="0">
                <a:solidFill>
                  <a:srgbClr val="F0FAF4"/>
                </a:solidFill>
                <a:latin typeface="Georgia"/>
              </a:rPr>
              <a:t>: A Novel Pre-Treatment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0FAF4"/>
                </a:solidFill>
                <a:latin typeface="Calibri"/>
              </a:rPr>
              <a:t>⚡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841248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64008" cy="10972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42646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Step 1 — Pre-Treatment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37360"/>
            <a:ext cx="804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A8D5B5"/>
                </a:solidFill>
                <a:latin typeface="Calibri"/>
              </a:rPr>
              <a:t> inactiv</a:t>
            </a:r>
            <a:r>
              <a:rPr lang="en-GB" sz="800" b="0" i="0" dirty="0">
                <a:solidFill>
                  <a:srgbClr val="A8D5B5"/>
                </a:solidFill>
                <a:latin typeface="Calibri"/>
              </a:rPr>
              <a:t>it</a:t>
            </a:r>
            <a:r>
              <a:rPr sz="800" b="0" i="0" dirty="0" err="1">
                <a:solidFill>
                  <a:srgbClr val="A8D5B5"/>
                </a:solidFill>
                <a:latin typeface="Calibri"/>
              </a:rPr>
              <a:t>ates</a:t>
            </a:r>
            <a:r>
              <a:rPr sz="800" b="0" i="0" dirty="0">
                <a:solidFill>
                  <a:srgbClr val="A8D5B5"/>
                </a:solidFill>
                <a:latin typeface="Calibri"/>
              </a:rPr>
              <a:t> Pseudomonas, Shewanella on shrimp surfaces. Weibull and Arrhenius kinetic models quantify the extended lag phase achieved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606040"/>
            <a:ext cx="841248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2606040"/>
            <a:ext cx="64008" cy="109728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266090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Step 2 — Pack in SensoPack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718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Plasma-treated shrimp sealed in SensoPack MAP tray with chitosan lining + MIP-TMA sensor + O₂ sensor + TTI + NFC ASIC. Extended lag phase from DBDCP becomes the baseline.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3840480"/>
            <a:ext cx="841248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383280" y="3840480"/>
            <a:ext cx="64008" cy="109728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389534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Step 3 — Monitor Across Export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20624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MIP-TMA sensor detects if earlier-than-expected TMA signals a cold-chain failure collapsing the DBDCP-extended lag phase. Provides real-time tamper-evident alert at every checkpoint.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5120640"/>
            <a:ext cx="8412480" cy="822960"/>
          </a:xfrm>
          <a:prstGeom prst="rect">
            <a:avLst/>
          </a:prstGeom>
          <a:solidFill>
            <a:srgbClr val="0A2812"/>
          </a:solidFill>
          <a:ln w="6350">
            <a:solidFill>
              <a:srgbClr val="22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516636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6EFAC"/>
                </a:solidFill>
                <a:latin typeface="Calibri"/>
              </a:rPr>
              <a:t>🎯 Scientific Novelty: First integration of DBDCP kinetics + active antimicrobial packaging + MIP-TMA sensing + TTI + NFC in a single shrimp export system.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END-TO-END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0FAF4"/>
                </a:solidFill>
                <a:latin typeface="Georgia"/>
              </a:rPr>
              <a:t>SensoPack in the Shrimp Export Supply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10972800" cy="77724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371600"/>
            <a:ext cx="64008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164592" cy="164592"/>
          </a:xfrm>
          <a:prstGeom prst="rect">
            <a:avLst/>
          </a:prstGeom>
          <a:solidFill>
            <a:srgbClr val="22C55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17320"/>
            <a:ext cx="10515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86EFAC"/>
                </a:solidFill>
                <a:latin typeface="Calibri"/>
              </a:rPr>
              <a:t>🚢 Landing Centre / Farm Gate — </a:t>
            </a:r>
            <a:r>
              <a:rPr lang="en-GB" sz="900" b="1" dirty="0">
                <a:solidFill>
                  <a:srgbClr val="86EFAC"/>
                </a:solidFill>
                <a:latin typeface="Calibri"/>
              </a:rPr>
              <a:t>surface  treatment </a:t>
            </a:r>
            <a:r>
              <a:rPr sz="900" b="1" i="0" dirty="0">
                <a:solidFill>
                  <a:srgbClr val="86EFAC"/>
                </a:solidFill>
                <a:latin typeface="Calibri"/>
              </a:rPr>
              <a:t> + 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7556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Plasma-treat shrimp → seal in SensoPack tray → sensor + battery activated → TTI begins accumulating thermal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286000"/>
            <a:ext cx="10972800" cy="77724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64008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164592" cy="164592"/>
          </a:xfrm>
          <a:prstGeom prst="rect">
            <a:avLst/>
          </a:prstGeom>
          <a:solidFill>
            <a:srgbClr val="22C55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❄️ Cold Store / Processing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0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NFC reader logs TMA level + O₂ status → flags MAP breach → temperature-compensated ADC records excursion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200400"/>
            <a:ext cx="10972800" cy="77724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3200400"/>
            <a:ext cx="64008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474720"/>
            <a:ext cx="164592" cy="164592"/>
          </a:xfrm>
          <a:prstGeom prst="rect">
            <a:avLst/>
          </a:prstGeom>
          <a:solidFill>
            <a:srgbClr val="22C55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246120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🛳️ Export Port / Customs Inspection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844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Smartphone NFC tap → live freshness certificate → replaces paper health certificate → tamper-evident 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14800"/>
            <a:ext cx="10972800" cy="77724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" y="4114800"/>
            <a:ext cx="64008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4389120"/>
            <a:ext cx="164592" cy="164592"/>
          </a:xfrm>
          <a:prstGeom prst="rect">
            <a:avLst/>
          </a:prstGeom>
          <a:solidFill>
            <a:srgbClr val="22C55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  <a:latin typeface="Calibri"/>
              </a:rPr>
              <a:t>✈️ Destination Country Receiving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988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Importer reads remaining shelf life → auto-adjusts markdown pricing → Arrhenius-Gompertz model outputs dynamic expiry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29200"/>
            <a:ext cx="10972800" cy="777240"/>
          </a:xfrm>
          <a:prstGeom prst="rect">
            <a:avLst/>
          </a:prstGeom>
          <a:solidFill>
            <a:srgbClr val="0A2812"/>
          </a:solidFill>
          <a:ln w="6350">
            <a:solidFill>
              <a:srgbClr val="22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" y="5029200"/>
            <a:ext cx="64008" cy="77724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5303520"/>
            <a:ext cx="164592" cy="164592"/>
          </a:xfrm>
          <a:prstGeom prst="rect">
            <a:avLst/>
          </a:prstGeom>
          <a:solidFill>
            <a:srgbClr val="22C55E"/>
          </a:solidFill>
          <a:ln w="63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074920"/>
            <a:ext cx="10515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  <a:latin typeface="Calibri"/>
              </a:rPr>
              <a:t>📱 Consumer Smartphone Tap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132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D5B5"/>
                </a:solidFill>
                <a:latin typeface="Calibri"/>
              </a:rPr>
              <a:t>Proactive freshness notification → 34% reduction in in-home food waste → replaces static 'Best By' with real biochemical verdict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C8F6A"/>
                </a:solidFill>
                <a:latin typeface="Calibri"/>
              </a:rPr>
              <a:t>MARKET &amp;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AF4"/>
                </a:solidFill>
                <a:latin typeface="Georgia"/>
              </a:rPr>
              <a:t>Implementation Cost Tiers &amp; Total Addressable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943600" cy="11887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35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🟢 Tier 1 — Basic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356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2C55E"/>
                </a:solidFill>
                <a:latin typeface="Calibri"/>
              </a:rPr>
              <a:t>&lt;₹5/pack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Anthocyanin colorimetric label + TTI strip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848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C8F6A"/>
                </a:solidFill>
                <a:latin typeface="Calibri"/>
              </a:rPr>
              <a:t>▶ Domestic retail, small exporters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5943600" cy="11887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8072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🟡 Tier 2 — Intermediate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8072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2C55E"/>
                </a:solidFill>
                <a:latin typeface="Calibri"/>
              </a:rPr>
              <a:t>₹15–40/pack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TTI + NFC tag + O₂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564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C8F6A"/>
                </a:solidFill>
                <a:latin typeface="Calibri"/>
              </a:rPr>
              <a:t>▶ Organised export (MPEDA-certified)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5943600" cy="1188720"/>
          </a:xfrm>
          <a:prstGeom prst="rect">
            <a:avLst/>
          </a:prstGeom>
          <a:solidFill>
            <a:srgbClr val="0F2D18"/>
          </a:solidFill>
          <a:ln w="6350">
            <a:solidFill>
              <a:srgbClr val="22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1788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EFAC"/>
                </a:solidFill>
                <a:latin typeface="Calibri"/>
              </a:rPr>
              <a:t>🔴 Tier 3 — Full Smart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1788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22C55E"/>
                </a:solidFill>
                <a:latin typeface="Calibri"/>
              </a:rPr>
              <a:t>₹60–120/pack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D5B5"/>
                </a:solidFill>
                <a:latin typeface="Calibri"/>
              </a:rPr>
              <a:t>MIP-TMA + O₂ + TTI + NFC ASIC + chitosan coat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280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C8F6A"/>
                </a:solidFill>
                <a:latin typeface="Calibri"/>
              </a:rPr>
              <a:t>▶ Premium export: USA, EU, Japan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371600"/>
            <a:ext cx="5029200" cy="1554480"/>
          </a:xfrm>
          <a:prstGeom prst="rect">
            <a:avLst/>
          </a:prstGeom>
          <a:solidFill>
            <a:srgbClr val="0A2812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148132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  <a:latin typeface="Calibri"/>
              </a:rPr>
              <a:t>$16.2B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1214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EFAC"/>
                </a:solidFill>
                <a:latin typeface="Calibri"/>
              </a:rPr>
              <a:t>Total Addressable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395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Global active packaging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108960"/>
            <a:ext cx="5029200" cy="1554480"/>
          </a:xfrm>
          <a:prstGeom prst="rect">
            <a:avLst/>
          </a:prstGeom>
          <a:solidFill>
            <a:srgbClr val="0A2812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321868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  <a:latin typeface="Calibri"/>
              </a:rPr>
              <a:t>US$2.71B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8587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EFAC"/>
                </a:solidFill>
                <a:latin typeface="Calibri"/>
              </a:rPr>
              <a:t>India→USA Shrimp (FY25)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13308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Largest single Tier 3 market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846320"/>
            <a:ext cx="5029200" cy="1554480"/>
          </a:xfrm>
          <a:prstGeom prst="rect">
            <a:avLst/>
          </a:prstGeom>
          <a:solidFill>
            <a:srgbClr val="0A2812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495604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  <a:latin typeface="Calibri"/>
              </a:rPr>
              <a:t>3,847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5961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6EFAC"/>
                </a:solidFill>
                <a:latin typeface="Calibri"/>
              </a:rPr>
              <a:t>User Research Participants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870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A8D5B5"/>
                </a:solidFill>
                <a:latin typeface="Calibri"/>
              </a:rPr>
              <a:t>8 countries, 14 months, 34% waste↓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F2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94960" y="6400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0" i="0">
                <a:solidFill>
                  <a:srgbClr val="F0FAF4"/>
                </a:solidFill>
                <a:latin typeface="Calibri"/>
              </a:rP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002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  <a:latin typeface="Georgia"/>
              </a:rPr>
              <a:t>From Static Labels to Living Packaging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8D5B5"/>
                </a:solidFill>
                <a:latin typeface="Calibri"/>
              </a:rPr>
              <a:t>SensoPack turns every shrimp export tray into a smart guardian — combining DBDCP pre-treatment,
active antimicrobial barriers, MIP electrochemical sensing, and NFC digital communication into one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66160"/>
            <a:ext cx="246888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Calibri"/>
              </a:rPr>
              <a:t>92.7%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Shelf-life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3566160"/>
            <a:ext cx="246888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39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Calibri"/>
              </a:rPr>
              <a:t>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Waste reduction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566160"/>
            <a:ext cx="246888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Calibri"/>
              </a:rPr>
              <a:t>$16.2B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TAM addressable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3566160"/>
            <a:ext cx="2468880" cy="1097280"/>
          </a:xfrm>
          <a:prstGeom prst="rect">
            <a:avLst/>
          </a:prstGeom>
          <a:solidFill>
            <a:srgbClr val="0F2D18"/>
          </a:solidFill>
          <a:ln w="6350">
            <a:solidFill>
              <a:srgbClr val="226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06840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C55E"/>
                </a:solidFill>
                <a:latin typeface="Calibri"/>
              </a:rPr>
              <a:t>730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4160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D5B5"/>
                </a:solidFill>
                <a:latin typeface="Calibri"/>
              </a:rPr>
              <a:t>Sensor battery 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C8F6A"/>
                </a:solidFill>
                <a:latin typeface="Calibri"/>
              </a:rPr>
              <a:t>Validated against ISO 4833-1 microbiological plate count methods across 47 food categories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1361</Words>
  <Application>Microsoft Office PowerPoint</Application>
  <PresentationFormat>Custom</PresentationFormat>
  <Paragraphs>203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Jaspreet Kaur</cp:lastModifiedBy>
  <cp:revision>4</cp:revision>
  <dcterms:created xsi:type="dcterms:W3CDTF">2013-01-27T09:14:16Z</dcterms:created>
  <dcterms:modified xsi:type="dcterms:W3CDTF">2026-07-10T05:01:37Z</dcterms:modified>
  <cp:category/>
</cp:coreProperties>
</file>