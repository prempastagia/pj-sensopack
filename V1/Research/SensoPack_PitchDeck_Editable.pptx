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 rot="5400000">
            <a:off x="457200" y="502920"/>
            <a:ext cx="822960" cy="822960"/>
          </a:xfrm>
          <a:prstGeom prst="homePlate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04088" y="930859"/>
            <a:ext cx="123444" cy="115214"/>
          </a:xfrm>
          <a:prstGeom prst="bentConnector3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7532" y="799185"/>
            <a:ext cx="222199" cy="246888"/>
          </a:xfrm>
          <a:prstGeom prst="bentConnector3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D5F66"/>
                </a:solidFill>
                <a:latin typeface="Arial"/>
              </a:rPr>
              <a:t>DEEP-TECH INNOVATION · FOOD SECURITY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828800"/>
            <a:ext cx="822960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5800" b="1">
                <a:solidFill>
                  <a:srgbClr val="1C2A30"/>
                </a:solidFill>
                <a:latin typeface="Arial"/>
              </a:rPr>
              <a:t>SensoPack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841248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700" b="0">
                <a:solidFill>
                  <a:srgbClr val="54646C"/>
                </a:solidFill>
                <a:latin typeface="Arial"/>
              </a:rPr>
              <a:t>Biodegradable smart packaging that actively protects fresh shrimp and senses its true freshness — starting with India's ₹62,408 crore shrimp-export chain, and built to be affordable where refrigeration cannot reach.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4646C"/>
                </a:solidFill>
                <a:latin typeface="Arial"/>
              </a:rPr>
              <a:t>Active bio-film + one low-cost freshness sensor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48056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4805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4646C"/>
                </a:solidFill>
                <a:latin typeface="Arial"/>
              </a:rPr>
              <a:t>Beachhead: shrimp · extends to fish &amp; meat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48056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4805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4646C"/>
                </a:solidFill>
                <a:latin typeface="Arial"/>
              </a:rPr>
              <a:t>Protect · Sense · Sustain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8A9AA0"/>
                </a:solidFill>
                <a:latin typeface="Arial"/>
              </a:rPr>
              <a:t>Team Sentinel · IIT Kharagpur Platinum Jubilee Innovation Challenge · Round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01 · PROBLEM SIGNIFICANCE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India exports the world's shrimp — and loses a fortune to spoilage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828800"/>
            <a:ext cx="6766560" cy="457200"/>
          </a:xfrm>
          <a:prstGeom prst="roundRect">
            <a:avLst>
              <a:gd name="adj" fmla="val 4000"/>
            </a:avLst>
          </a:prstGeom>
          <a:solidFill>
            <a:srgbClr val="E6F2F1"/>
          </a:solidFill>
          <a:ln w="9525">
            <a:solidFill>
              <a:srgbClr val="B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69164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D5F66"/>
                </a:solidFill>
                <a:latin typeface="Arial"/>
              </a:rPr>
              <a:t>Farm / Landing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828800"/>
            <a:ext cx="0" cy="45720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40280" y="1874519"/>
            <a:ext cx="169164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D5F66"/>
                </a:solidFill>
                <a:latin typeface="Arial"/>
              </a:rPr>
              <a:t>Cold store / Transit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1828800"/>
            <a:ext cx="0" cy="45720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31920" y="1874519"/>
            <a:ext cx="169164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D5F66"/>
                </a:solidFill>
                <a:latin typeface="Arial"/>
              </a:rPr>
              <a:t>Port / Export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1828800"/>
            <a:ext cx="0" cy="45720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23560" y="1874519"/>
            <a:ext cx="169164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0D5F66"/>
                </a:solidFill>
                <a:latin typeface="Arial"/>
              </a:rPr>
              <a:t>Retail / Consumer</a:t>
            </a: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645919" y="2377440"/>
            <a:ext cx="164592" cy="256032"/>
          </a:xfrm>
          <a:prstGeom prst="triangle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79" y="2697480"/>
            <a:ext cx="1280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C06A1C"/>
                </a:solidFill>
                <a:latin typeface="Arial"/>
              </a:rPr>
              <a:t>melanosis</a:t>
            </a:r>
          </a:p>
        </p:txBody>
      </p:sp>
      <p:sp>
        <p:nvSpPr>
          <p:cNvPr id="20" name="Isosceles Triangle 19"/>
          <p:cNvSpPr/>
          <p:nvPr/>
        </p:nvSpPr>
        <p:spPr>
          <a:xfrm rot="10800000">
            <a:off x="3291840" y="2377440"/>
            <a:ext cx="164592" cy="256032"/>
          </a:xfrm>
          <a:prstGeom prst="triangle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697480"/>
            <a:ext cx="1280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C06A1C"/>
                </a:solidFill>
                <a:latin typeface="Arial"/>
              </a:rPr>
              <a:t>thermal excursion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5029200" y="2377440"/>
            <a:ext cx="164592" cy="256032"/>
          </a:xfrm>
          <a:prstGeom prst="triangle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1280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C06A1C"/>
                </a:solidFill>
                <a:latin typeface="Arial"/>
              </a:rPr>
              <a:t>quality downgrade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67665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54646C"/>
                </a:solidFill>
                <a:latin typeface="Arial"/>
              </a:rPr>
              <a:t>Shrimp spoils in 3–14 days by temperature — a static "Best By" label is blind to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1645920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54646C"/>
                </a:solidFill>
                <a:latin typeface="Arial"/>
              </a:rPr>
              <a:t>INDIA SHRIMP EXPORT vs LOSS (₹ cr)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011680"/>
            <a:ext cx="822960" cy="169164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828800"/>
            <a:ext cx="109728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D5F66"/>
                </a:solidFill>
                <a:latin typeface="Arial"/>
              </a:rPr>
              <a:t>62,408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3291840"/>
            <a:ext cx="822960" cy="411480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3063240"/>
            <a:ext cx="109728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C06A1C"/>
                </a:solidFill>
                <a:latin typeface="Arial"/>
              </a:rPr>
              <a:t>~15,000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0" y="3712463"/>
            <a:ext cx="3108960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83879" y="3730752"/>
            <a:ext cx="1097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73075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977639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8A9AA0"/>
                </a:solidFill>
                <a:latin typeface="Arial"/>
              </a:rPr>
              <a:t>FY 2024–25 · 1.69M MT exported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4805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17720"/>
            <a:ext cx="22860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0D5F66"/>
                </a:solidFill>
                <a:latin typeface="Arial"/>
              </a:rPr>
              <a:t>69%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01768"/>
            <a:ext cx="2286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of India's seafood dollar earnings come from shrimp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46704" y="44805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9584" y="4617720"/>
            <a:ext cx="22860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E8B52"/>
                </a:solidFill>
                <a:latin typeface="Arial"/>
              </a:rPr>
              <a:t>$2.71B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9584" y="5001768"/>
            <a:ext cx="2286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India → USA shrimp alone (FY25) — the premium market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44805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4617720"/>
            <a:ext cx="22860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C06A1C"/>
                </a:solidFill>
                <a:latin typeface="Arial"/>
              </a:rPr>
              <a:t>~35%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5001768"/>
            <a:ext cx="2286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of harvested fish/seafood lost globally before a plate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42832" y="44805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1" y="4617720"/>
            <a:ext cx="228600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0D5F66"/>
                </a:solidFill>
                <a:latin typeface="Arial"/>
              </a:rPr>
              <a:t>2 gaps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1" y="5001768"/>
            <a:ext cx="2286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no active protection; no real-time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CLARITY OF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The fixes exist — they never reach the market that needs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e 9"/>
          <p:cNvSpPr/>
          <p:nvPr/>
        </p:nvSpPr>
        <p:spPr>
          <a:xfrm>
            <a:off x="914400" y="1554480"/>
            <a:ext cx="2377440" cy="2377440"/>
          </a:xfrm>
          <a:prstGeom prst="pie">
            <a:avLst>
              <a:gd name="adj1" fmla="val -9000000"/>
              <a:gd name="adj2" fmla="val 30500000"/>
            </a:avLst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914400" y="1554480"/>
            <a:ext cx="2377440" cy="2377440"/>
          </a:xfrm>
          <a:prstGeom prst="pie">
            <a:avLst>
              <a:gd name="adj1" fmla="val 30500000"/>
              <a:gd name="adj2" fmla="val 36000000"/>
            </a:avLst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00200" y="2240280"/>
            <a:ext cx="1005840" cy="1005840"/>
          </a:xfrm>
          <a:prstGeom prst="ellipse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514600"/>
            <a:ext cx="1371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C06A1C"/>
                </a:solidFill>
                <a:latin typeface="Arial"/>
              </a:rPr>
              <a:t>~90%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~90% unrefrigerated / informal · ~10% organised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6002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1" y="173736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0D5F66"/>
                </a:solidFill>
                <a:latin typeface="Arial"/>
              </a:rPr>
              <a:t>FIX 1 — TOO COSTLY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2011680"/>
            <a:ext cx="21945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C2A30"/>
                </a:solidFill>
                <a:latin typeface="Arial"/>
              </a:rPr>
              <a:t>Sensor tags &gt; $2.50/unit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2514600"/>
            <a:ext cx="21945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>
                <a:solidFill>
                  <a:srgbClr val="54646C"/>
                </a:solidFill>
                <a:latin typeface="Arial"/>
              </a:rPr>
              <a:t>IoT tags exceed the 5–8% of product value a shrimp pack can bear. Absent from the informal market.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16002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1" y="173736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0D5F66"/>
                </a:solidFill>
                <a:latin typeface="Arial"/>
              </a:rPr>
              <a:t>FIX 2 — UNREADABLE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2011680"/>
            <a:ext cx="21945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C2A30"/>
                </a:solidFill>
                <a:latin typeface="Arial"/>
              </a:rPr>
              <a:t>Needs special scanners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2514600"/>
            <a:ext cx="21945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>
                <a:solidFill>
                  <a:srgbClr val="54646C"/>
                </a:solidFill>
                <a:latin typeface="Arial"/>
              </a:rPr>
              <a:t>Senoptica-type optical labels need industrial readers — a consumer smartphone can't read them at retail.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60020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73736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0D5F66"/>
                </a:solidFill>
                <a:latin typeface="Arial"/>
              </a:rPr>
              <a:t>FIX 3 — BOLT-ON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011680"/>
            <a:ext cx="21945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C2A30"/>
                </a:solidFill>
                <a:latin typeface="Arial"/>
              </a:rPr>
              <a:t>Not packaging-integrated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514600"/>
            <a:ext cx="21945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>
                <a:solidFill>
                  <a:srgbClr val="54646C"/>
                </a:solidFill>
                <a:latin typeface="Arial"/>
              </a:rPr>
              <a:t>Blakbear-style add-on tags aren't built into the film — extra steps, extra cost. "Best By" ignores temperature.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4114800"/>
            <a:ext cx="7726679" cy="822960"/>
          </a:xfrm>
          <a:prstGeom prst="roundRect">
            <a:avLst>
              <a:gd name="adj" fmla="val 5000"/>
            </a:avLst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77639" y="4114800"/>
            <a:ext cx="54864" cy="82296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42231" y="4114800"/>
            <a:ext cx="7452359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64A4D"/>
                </a:solidFill>
                <a:latin typeface="Arial"/>
              </a:rPr>
              <a:t>The unserved opportunity: an affordable, integrated solution that both extends shrimp freshness and proves it — readable by the naked eye, deployable with no cold storage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What SensoPack looks like in the customer's hands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Protect + Sense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pezoid 9"/>
          <p:cNvSpPr/>
          <p:nvPr/>
        </p:nvSpPr>
        <p:spPr>
          <a:xfrm>
            <a:off x="1097280" y="2011680"/>
            <a:ext cx="4206240" cy="1828800"/>
          </a:xfrm>
          <a:prstGeom prst="trapezoid">
            <a:avLst/>
          </a:prstGeom>
          <a:solidFill>
            <a:srgbClr val="D7E0DC"/>
          </a:solidFill>
          <a:ln w="9525">
            <a:solidFill>
              <a:srgbClr val="B7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2377440"/>
            <a:ext cx="1097280" cy="731520"/>
          </a:xfrm>
          <a:prstGeom prst="ellipse">
            <a:avLst/>
          </a:prstGeom>
          <a:solidFill>
            <a:srgbClr val="E88F70"/>
          </a:solidFill>
          <a:ln w="9525">
            <a:solidFill>
              <a:srgbClr val="C96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0" y="2377440"/>
            <a:ext cx="1097280" cy="731520"/>
          </a:xfrm>
          <a:prstGeom prst="ellipse">
            <a:avLst/>
          </a:prstGeom>
          <a:solidFill>
            <a:srgbClr val="E88F70"/>
          </a:solidFill>
          <a:ln w="9525">
            <a:solidFill>
              <a:srgbClr val="C96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2377440"/>
            <a:ext cx="1097280" cy="731520"/>
          </a:xfrm>
          <a:prstGeom prst="ellipse">
            <a:avLst/>
          </a:prstGeom>
          <a:solidFill>
            <a:srgbClr val="E88F70"/>
          </a:solidFill>
          <a:ln w="9525">
            <a:solidFill>
              <a:srgbClr val="C96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057400"/>
            <a:ext cx="3657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3040" y="2148840"/>
            <a:ext cx="3474720" cy="1371600"/>
          </a:xfrm>
          <a:prstGeom prst="roundRect">
            <a:avLst>
              <a:gd name="adj" fmla="val 3000"/>
            </a:avLst>
          </a:prstGeom>
          <a:solidFill>
            <a:srgbClr val="C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214884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128016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0D5F66"/>
                </a:solidFill>
                <a:latin typeface="Arial"/>
              </a:rPr>
              <a:t>SensoPack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432304"/>
            <a:ext cx="1234440" cy="146304"/>
          </a:xfrm>
          <a:prstGeom prst="roundRect">
            <a:avLst>
              <a:gd name="adj" fmla="val 40000"/>
            </a:avLst>
          </a:prstGeom>
          <a:solidFill>
            <a:srgbClr val="7D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01568" y="2395728"/>
            <a:ext cx="182880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606040"/>
            <a:ext cx="1280160" cy="1828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1">
                <a:solidFill>
                  <a:srgbClr val="6B3FA0"/>
                </a:solidFill>
                <a:latin typeface="Arial"/>
              </a:rPr>
              <a:t>FRESH (anthocyanin)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1554480"/>
            <a:ext cx="1371600" cy="2651760"/>
          </a:xfrm>
          <a:prstGeom prst="roundRect">
            <a:avLst>
              <a:gd name="adj" fmla="val 12000"/>
            </a:avLst>
          </a:prstGeom>
          <a:solidFill>
            <a:srgbClr val="1C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0" y="1691640"/>
            <a:ext cx="1188720" cy="2377440"/>
          </a:xfrm>
          <a:prstGeom prst="roundRect">
            <a:avLst>
              <a:gd name="adj" fmla="val 8000"/>
            </a:avLst>
          </a:prstGeom>
          <a:solidFill>
            <a:srgbClr val="F5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89320" y="2011680"/>
            <a:ext cx="548640" cy="548640"/>
          </a:xfrm>
          <a:prstGeom prst="ellipse">
            <a:avLst/>
          </a:prstGeom>
          <a:solidFill>
            <a:srgbClr val="EFE8F6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69748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0D5F66"/>
                </a:solidFill>
                <a:latin typeface="Arial"/>
              </a:rPr>
              <a:t>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97180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0">
                <a:solidFill>
                  <a:srgbClr val="54646C"/>
                </a:solidFill>
                <a:latin typeface="Arial"/>
              </a:rPr>
              <a:t>TVB-N low · ~10 days left</a:t>
            </a:r>
          </a:p>
        </p:txBody>
      </p:sp>
      <p:sp>
        <p:nvSpPr>
          <p:cNvPr id="26" name="Oval 25"/>
          <p:cNvSpPr/>
          <p:nvPr/>
        </p:nvSpPr>
        <p:spPr>
          <a:xfrm>
            <a:off x="1188720" y="4160520"/>
            <a:ext cx="201168" cy="20116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4114800"/>
            <a:ext cx="21031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Purple — fresh</a:t>
            </a:r>
          </a:p>
        </p:txBody>
      </p:sp>
      <p:sp>
        <p:nvSpPr>
          <p:cNvPr id="28" name="Oval 27"/>
          <p:cNvSpPr/>
          <p:nvPr/>
        </p:nvSpPr>
        <p:spPr>
          <a:xfrm>
            <a:off x="3566160" y="4160520"/>
            <a:ext cx="201168" cy="201168"/>
          </a:xfrm>
          <a:prstGeom prst="ellipse">
            <a:avLst/>
          </a:prstGeom>
          <a:solidFill>
            <a:srgbClr val="7D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4114800"/>
            <a:ext cx="21031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Olive — use soon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4160520"/>
            <a:ext cx="201168" cy="201168"/>
          </a:xfrm>
          <a:prstGeom prst="ellipse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114800"/>
            <a:ext cx="21031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Brown — do not consume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526280"/>
            <a:ext cx="5852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8A9AA0"/>
                </a:solidFill>
                <a:latin typeface="Arial"/>
              </a:rPr>
              <a:t>Product visualisation (concept render — physical unit in development).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1554480"/>
            <a:ext cx="4389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1554480"/>
            <a:ext cx="54864" cy="1051560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1645920"/>
            <a:ext cx="41148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2E8B52"/>
                </a:solidFill>
                <a:latin typeface="Arial"/>
              </a:rPr>
              <a:t>PROTECT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1874519"/>
            <a:ext cx="4114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54646C"/>
                </a:solidFill>
                <a:latin typeface="Arial"/>
              </a:rPr>
              <a:t>Active biodegradable film — chitosan + essential oils (thymol/carvacrol/clove) that doubles shrimp shelf life, without refrigeration.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2743200"/>
            <a:ext cx="4389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2743200"/>
            <a:ext cx="54864" cy="109728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2834640"/>
            <a:ext cx="41148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0D5F66"/>
                </a:solidFill>
                <a:latin typeface="Arial"/>
              </a:rPr>
              <a:t>SENSE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3063240"/>
            <a:ext cx="4114800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54646C"/>
                </a:solidFill>
                <a:latin typeface="Arial"/>
              </a:rPr>
              <a:t>One &lt;₹5 anthocyanin dye patch (butterfly pea / roselle) that shifts colour with spoilage amines — naked-eye readable, no electronics; optional NFC tap.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4023360"/>
            <a:ext cx="4389120" cy="777240"/>
          </a:xfrm>
          <a:prstGeom prst="roundRect">
            <a:avLst>
              <a:gd name="adj" fmla="val 5000"/>
            </a:avLst>
          </a:prstGeom>
          <a:solidFill>
            <a:srgbClr val="F7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0" y="4023360"/>
            <a:ext cx="54864" cy="777240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2" y="4023360"/>
            <a:ext cx="411480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6A4A1E"/>
                </a:solidFill>
                <a:latin typeface="Arial"/>
              </a:rPr>
              <a:t>One decisive sensor, not a stack of five. Cheaper, more robust, genuinely affordable.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An affordable base — with a full export-tier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How it works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583680" cy="3674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25780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>
                <a:solidFill>
                  <a:srgbClr val="8A9AA0"/>
                </a:solidFill>
                <a:latin typeface="Arial"/>
              </a:rPr>
              <a:t>Full-platform architecture (premium / export tier). The mass-market base tier is the film + ₹5 colour patch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1732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417320"/>
            <a:ext cx="54864" cy="1234440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508760"/>
            <a:ext cx="402336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2E8B52"/>
                </a:solidFill>
                <a:latin typeface="Arial"/>
              </a:rPr>
              <a:t>BASE TIER · MASS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55648"/>
            <a:ext cx="40233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54646C"/>
                </a:solidFill>
                <a:latin typeface="Arial"/>
              </a:rPr>
              <a:t>Active chitosan + EO film + a &lt;₹5 anthocyanin colour patch — naked-eye, no electronics, no battery. What a wet-market vendor actually buys.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8892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2788920"/>
            <a:ext cx="54864" cy="123444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880360"/>
            <a:ext cx="402336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0D5F66"/>
                </a:solidFill>
                <a:latin typeface="Arial"/>
              </a:rPr>
              <a:t>PREMIUM / EXPORT TIER · OPTIONAL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127248"/>
            <a:ext cx="40233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54646C"/>
                </a:solidFill>
                <a:latin typeface="Arial"/>
              </a:rPr>
              <a:t>Adds electronic amine sensing (MIP), an NFC digital freshness certificate, and a time-temperature log — for MPEDA exporters needing a cold-chain audit trail.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160520"/>
            <a:ext cx="4297680" cy="914400"/>
          </a:xfrm>
          <a:prstGeom prst="roundRect">
            <a:avLst>
              <a:gd name="adj" fmla="val 5000"/>
            </a:avLst>
          </a:prstGeom>
          <a:solidFill>
            <a:srgbClr val="F7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160520"/>
            <a:ext cx="54864" cy="914400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4160520"/>
            <a:ext cx="402336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6A4A1E"/>
                </a:solidFill>
                <a:latin typeface="Arial"/>
              </a:rPr>
              <a:t>One decisive signal for everyone; electronics only where the value justifies it. We never force a five-sensor stack onto a ₹200 tray.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02 · TECHNICAL FEASIBILITY &amp; SOUNDNESS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Measuring the markers regulators already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766560" cy="37766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892040"/>
            <a:ext cx="67665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>
                <a:solidFill>
                  <a:srgbClr val="8A9AA0"/>
                </a:solidFill>
                <a:latin typeface="Arial"/>
              </a:rPr>
              <a:t>The four-stage shrimp spoilage cascade &amp; accepted biomarker thresholds. Ref: Das &amp; Mishra (2023).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160520" cy="173736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517904"/>
            <a:ext cx="3840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2E8B52"/>
                </a:solidFill>
                <a:latin typeface="Arial"/>
              </a:rPr>
              <a:t>Protect — established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28800"/>
            <a:ext cx="3840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C2A30"/>
                </a:solidFill>
                <a:latin typeface="Arial"/>
              </a:rPr>
              <a:t>•  Chitosan + EO coatings extend chilled shrimp ~8 → 16 days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C2A30"/>
                </a:solidFill>
                <a:latin typeface="Arial"/>
              </a:rPr>
              <a:t>•  Low OTR arrests oxidation &amp; melanosis; balanced WVTR stops drip loss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C2A30"/>
                </a:solidFill>
                <a:latin typeface="Arial"/>
              </a:rPr>
              <a:t>•  Antimicrobials extend the microbial lag phase (stages 3–4)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291840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392424"/>
            <a:ext cx="3840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D5F66"/>
                </a:solidFill>
                <a:latin typeface="Arial"/>
              </a:rPr>
              <a:t>Sense — the earliest reliable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703320"/>
            <a:ext cx="3840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C2A30"/>
                </a:solidFill>
                <a:latin typeface="Arial"/>
              </a:rPr>
              <a:t>•  We target stage-3 amines — TVB-N ≥30, TMA ≥3 mg N/100g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C2A30"/>
                </a:solidFill>
                <a:latin typeface="Arial"/>
              </a:rPr>
              <a:t>•  Anthocyanin dye shifts colour with these amines — correlated with TVB-N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C2A30"/>
                </a:solidFill>
                <a:latin typeface="Arial"/>
              </a:rPr>
              <a:t>•  Compensated read-out cancels humidity/temperature drift — the deep-tech 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Double the shelf life — and flag the exact moment it 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Protect × Sense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" y="1554480"/>
            <a:ext cx="0" cy="3291840"/>
          </a:xfrm>
          <a:prstGeom prst="bentConnector3">
            <a:avLst/>
          </a:prstGeom>
          <a:ln w="1524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" y="4846320"/>
            <a:ext cx="6035039" cy="0"/>
          </a:xfrm>
          <a:prstGeom prst="bentConnector3">
            <a:avLst/>
          </a:prstGeom>
          <a:ln w="1524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892040"/>
            <a:ext cx="4572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8A9AA0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892040"/>
            <a:ext cx="4572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8A9AA0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892040"/>
            <a:ext cx="4572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8A9AA0"/>
                </a:solidFill>
                <a:latin typeface="Arial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4892040"/>
            <a:ext cx="4572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8A9AA0"/>
                </a:solidFill>
                <a:latin typeface="Arial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999" y="4892040"/>
            <a:ext cx="4572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0">
                <a:solidFill>
                  <a:srgbClr val="8A9AA0"/>
                </a:solidFill>
                <a:latin typeface="Arial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120640"/>
            <a:ext cx="18288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Days in chilled storage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40" y="2871215"/>
            <a:ext cx="6035039" cy="0"/>
          </a:xfrm>
          <a:prstGeom prst="bentConnector3">
            <a:avLst/>
          </a:prstGeom>
          <a:ln w="15240">
            <a:solidFill>
              <a:srgbClr val="B2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2596896"/>
            <a:ext cx="237744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B23B3B"/>
                </a:solidFill>
                <a:latin typeface="Arial"/>
              </a:rPr>
              <a:t>30 mg/100g — spoilage limit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05840" y="4319625"/>
            <a:ext cx="754380" cy="329184"/>
          </a:xfrm>
          <a:prstGeom prst="bentConnector3">
            <a:avLst/>
          </a:prstGeom>
          <a:ln w="28575">
            <a:solidFill>
              <a:srgbClr val="C06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60220" y="3858768"/>
            <a:ext cx="754380" cy="460857"/>
          </a:xfrm>
          <a:prstGeom prst="bentConnector3">
            <a:avLst/>
          </a:prstGeom>
          <a:ln w="28575">
            <a:solidFill>
              <a:srgbClr val="C06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514600" y="3332073"/>
            <a:ext cx="754379" cy="526695"/>
          </a:xfrm>
          <a:prstGeom prst="bentConnector3">
            <a:avLst/>
          </a:prstGeom>
          <a:ln w="28575">
            <a:solidFill>
              <a:srgbClr val="C06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268979" y="2871215"/>
            <a:ext cx="754381" cy="460858"/>
          </a:xfrm>
          <a:prstGeom prst="bentConnector3">
            <a:avLst/>
          </a:prstGeom>
          <a:ln w="28575">
            <a:solidFill>
              <a:srgbClr val="C06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023360" y="2212847"/>
            <a:ext cx="754380" cy="658368"/>
          </a:xfrm>
          <a:prstGeom prst="bentConnector3">
            <a:avLst/>
          </a:prstGeom>
          <a:ln w="28575">
            <a:solidFill>
              <a:srgbClr val="C06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777740" y="1686153"/>
            <a:ext cx="754379" cy="526694"/>
          </a:xfrm>
          <a:prstGeom prst="bentConnector3">
            <a:avLst/>
          </a:prstGeom>
          <a:ln w="28575">
            <a:solidFill>
              <a:srgbClr val="C06A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05840" y="4319625"/>
            <a:ext cx="1508760" cy="395021"/>
          </a:xfrm>
          <a:prstGeom prst="bentConnector3">
            <a:avLst/>
          </a:prstGeom>
          <a:ln w="28575">
            <a:solidFill>
              <a:srgbClr val="0D5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514600" y="3792931"/>
            <a:ext cx="1508760" cy="526694"/>
          </a:xfrm>
          <a:prstGeom prst="bentConnector3">
            <a:avLst/>
          </a:prstGeom>
          <a:ln w="28575">
            <a:solidFill>
              <a:srgbClr val="0D5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23360" y="3266236"/>
            <a:ext cx="1508759" cy="526695"/>
          </a:xfrm>
          <a:prstGeom prst="bentConnector3">
            <a:avLst/>
          </a:prstGeom>
          <a:ln w="28575">
            <a:solidFill>
              <a:srgbClr val="0D5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532119" y="3002889"/>
            <a:ext cx="754381" cy="263347"/>
          </a:xfrm>
          <a:prstGeom prst="bentConnector3">
            <a:avLst/>
          </a:prstGeom>
          <a:ln w="28575">
            <a:solidFill>
              <a:srgbClr val="0D5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286500" y="2871215"/>
            <a:ext cx="754379" cy="131674"/>
          </a:xfrm>
          <a:prstGeom prst="bentConnector3">
            <a:avLst/>
          </a:prstGeom>
          <a:ln w="28575">
            <a:solidFill>
              <a:srgbClr val="0D5F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49039" y="2194560"/>
            <a:ext cx="18288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C06A1C"/>
                </a:solidFill>
                <a:latin typeface="Arial"/>
              </a:rPr>
              <a:t>Control — spoiled ~8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526280"/>
            <a:ext cx="27432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D5F66"/>
                </a:solidFill>
                <a:latin typeface="Arial"/>
              </a:rPr>
              <a:t>SensoPack — saleable ~16 days</a:t>
            </a:r>
          </a:p>
        </p:txBody>
      </p:sp>
      <p:sp>
        <p:nvSpPr>
          <p:cNvPr id="33" name="Oval 32"/>
          <p:cNvSpPr/>
          <p:nvPr/>
        </p:nvSpPr>
        <p:spPr>
          <a:xfrm>
            <a:off x="6986016" y="2816351"/>
            <a:ext cx="109728" cy="109728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1554480"/>
            <a:ext cx="4114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1691639"/>
            <a:ext cx="3749039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E8B52"/>
                </a:solidFill>
                <a:latin typeface="Arial"/>
              </a:rPr>
              <a:t>8 →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2075688"/>
            <a:ext cx="3749039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days of chilled shelf life (published chitosan-EO coatings)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2788920"/>
            <a:ext cx="4114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926079"/>
            <a:ext cx="3749039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0D5F66"/>
                </a:solidFill>
                <a:latin typeface="Arial"/>
              </a:rPr>
              <a:t>Arrhenius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3310127"/>
            <a:ext cx="3749039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shelf life: 0°C ≈ 14 d · 5°C ≈ 7 d · 10°C ≈ 3–4 d — a fixed date can't capture this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4023360"/>
            <a:ext cx="4114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160520"/>
            <a:ext cx="3749039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C06A1C"/>
                </a:solidFill>
                <a:latin typeface="Arial"/>
              </a:rPr>
              <a:t>1 dye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544568"/>
            <a:ext cx="3749039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flips at the exact TVB-N limit — no false "fresh"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03 · ORIGINALITY &amp; CREATIVITY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The only solution that both protects and reports — affordably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" y="1554480"/>
            <a:ext cx="0" cy="274320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4297680"/>
            <a:ext cx="2926080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1554480"/>
            <a:ext cx="0" cy="274320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" y="2926080"/>
            <a:ext cx="2926080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1234440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Extends ↑    Reports →</a:t>
            </a:r>
          </a:p>
        </p:txBody>
      </p:sp>
      <p:sp>
        <p:nvSpPr>
          <p:cNvPr id="15" name="Oval 14"/>
          <p:cNvSpPr/>
          <p:nvPr/>
        </p:nvSpPr>
        <p:spPr>
          <a:xfrm>
            <a:off x="1486814" y="2258568"/>
            <a:ext cx="128016" cy="128016"/>
          </a:xfrm>
          <a:prstGeom prst="ellipse">
            <a:avLst/>
          </a:prstGeom>
          <a:solidFill>
            <a:srgbClr val="8A9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0550" y="2212848"/>
            <a:ext cx="118872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54646C"/>
                </a:solidFill>
                <a:latin typeface="Arial"/>
              </a:rPr>
              <a:t>Plain MAP</a:t>
            </a:r>
          </a:p>
        </p:txBody>
      </p:sp>
      <p:sp>
        <p:nvSpPr>
          <p:cNvPr id="17" name="Oval 16"/>
          <p:cNvSpPr/>
          <p:nvPr/>
        </p:nvSpPr>
        <p:spPr>
          <a:xfrm>
            <a:off x="2862072" y="3465576"/>
            <a:ext cx="128016" cy="128016"/>
          </a:xfrm>
          <a:prstGeom prst="ellipse">
            <a:avLst/>
          </a:prstGeom>
          <a:solidFill>
            <a:srgbClr val="8A9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419856"/>
            <a:ext cx="118872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54646C"/>
                </a:solidFill>
                <a:latin typeface="Arial"/>
              </a:rPr>
              <a:t>Colour labels</a:t>
            </a:r>
          </a:p>
        </p:txBody>
      </p:sp>
      <p:sp>
        <p:nvSpPr>
          <p:cNvPr id="19" name="Oval 18"/>
          <p:cNvSpPr/>
          <p:nvPr/>
        </p:nvSpPr>
        <p:spPr>
          <a:xfrm>
            <a:off x="1486814" y="3630168"/>
            <a:ext cx="128016" cy="128016"/>
          </a:xfrm>
          <a:prstGeom prst="ellipse">
            <a:avLst/>
          </a:prstGeom>
          <a:solidFill>
            <a:srgbClr val="8A9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0550" y="3584448"/>
            <a:ext cx="118872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54646C"/>
                </a:solidFill>
                <a:latin typeface="Arial"/>
              </a:rPr>
              <a:t>RFID/IoT</a:t>
            </a:r>
          </a:p>
        </p:txBody>
      </p:sp>
      <p:sp>
        <p:nvSpPr>
          <p:cNvPr id="21" name="Oval 20"/>
          <p:cNvSpPr/>
          <p:nvPr/>
        </p:nvSpPr>
        <p:spPr>
          <a:xfrm>
            <a:off x="2980944" y="2066543"/>
            <a:ext cx="182880" cy="182880"/>
          </a:xfrm>
          <a:prstGeom prst="ellipse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1691640"/>
            <a:ext cx="1371600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0D5F66"/>
                </a:solidFill>
                <a:latin typeface="Arial"/>
              </a:rPr>
              <a:t>SensoPack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34840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27432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1C2A30"/>
                </a:solidFill>
                <a:latin typeface="Arial"/>
              </a:rPr>
              <a:t>Protect + Sense in one film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2040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92040"/>
            <a:ext cx="27432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1C2A30"/>
                </a:solidFill>
                <a:latin typeface="Arial"/>
              </a:rPr>
              <a:t>Circular — chitosan from shell waste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49240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49240"/>
            <a:ext cx="274320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1C2A30"/>
                </a:solidFill>
                <a:latin typeface="Arial"/>
              </a:rPr>
              <a:t>Naked-eye affordable (&lt;₹5)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114800" y="1554480"/>
          <a:ext cx="76352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097280"/>
                <a:gridCol w="1234440"/>
                <a:gridCol w="1325880"/>
                <a:gridCol w="1051560"/>
                <a:gridCol w="1188720"/>
              </a:tblGrid>
              <a:tr h="39188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SensoPack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Colour labels
Senoptica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IoT tags
TrackingPacking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Add-on
Blakbear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Plain MAP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C2A30"/>
                          </a:solidFill>
                          <a:latin typeface="Arial"/>
                        </a:rPr>
                        <a:t>Extends shelf life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C2A30"/>
                          </a:solidFill>
                          <a:latin typeface="Arial"/>
                        </a:rPr>
                        <a:t>Reports freshness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Temp only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C2A30"/>
                          </a:solidFill>
                          <a:latin typeface="Arial"/>
                        </a:rPr>
                        <a:t>Naked-eye / no scanner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Needs scanner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Phone/reader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Reader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C2A30"/>
                          </a:solidFill>
                          <a:latin typeface="Arial"/>
                        </a:rPr>
                        <a:t>Packaging-integrated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Bolt-on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C2A30"/>
                          </a:solidFill>
                          <a:latin typeface="Arial"/>
                        </a:rPr>
                        <a:t>Cost / unit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&lt;₹5–120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&gt;High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&gt;$2.50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C2A30"/>
                          </a:solidFill>
                          <a:latin typeface="Arial"/>
                        </a:rPr>
                        <a:t>Biodegradable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Varies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C2A3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114800" y="4480560"/>
            <a:ext cx="7635240" cy="777240"/>
          </a:xfrm>
          <a:prstGeom prst="roundRect">
            <a:avLst>
              <a:gd name="adj" fmla="val 5000"/>
            </a:avLst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4480560"/>
            <a:ext cx="54864" cy="77724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4480560"/>
            <a:ext cx="7360919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64A4D"/>
                </a:solidFill>
                <a:latin typeface="Arial"/>
              </a:rPr>
              <a:t>Every incumbent solves one axis. SensoPack is the only entry combining active protection, honest sensing, biodegradability and affordability in one package.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04 · IMPACT — SCALE, DEPTH,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From a rural pond to a US hypermarket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417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0D5F66"/>
                </a:solidFill>
                <a:latin typeface="Arial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32918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0D5F66"/>
                </a:solidFill>
                <a:latin typeface="Arial"/>
              </a:rPr>
              <a:t>₹62,408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32918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India shrimp export (FY25); ~₹15,000 cr lost to spoilage — a fraction recovered is enormous.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17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36192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2E8B52"/>
                </a:solidFill>
                <a:latin typeface="Arial"/>
              </a:rPr>
              <a:t>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10512"/>
            <a:ext cx="32918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E8B52"/>
                </a:solidFill>
                <a:latin typeface="Arial"/>
              </a:rPr>
              <a:t>8 → 16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94560"/>
            <a:ext cx="32918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doubled shelf life ends distress pricing, displaces carcinogenic formalin/ammonia-ice, preserves drip-loss weight.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36192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06A1C"/>
                </a:solidFill>
                <a:latin typeface="Arial"/>
              </a:rPr>
              <a:t>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10512"/>
            <a:ext cx="32918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C06A1C"/>
                </a:solidFill>
                <a:latin typeface="Arial"/>
              </a:rPr>
              <a:t>3 tiers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918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one material serving wet market, organised retail and premium export.</a:t>
            </a:r>
          </a:p>
        </p:txBody>
      </p:sp>
      <p:sp>
        <p:nvSpPr>
          <p:cNvPr id="22" name="Trapezoid 21"/>
          <p:cNvSpPr/>
          <p:nvPr/>
        </p:nvSpPr>
        <p:spPr>
          <a:xfrm rot="10800000">
            <a:off x="548640" y="3566160"/>
            <a:ext cx="3566160" cy="1005840"/>
          </a:xfrm>
          <a:prstGeom prst="trapezoid">
            <a:avLst/>
          </a:prstGeom>
          <a:solidFill>
            <a:srgbClr val="E6F2F1"/>
          </a:solidFill>
          <a:ln w="6350">
            <a:solidFill>
              <a:srgbClr val="B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49039"/>
            <a:ext cx="3566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1C2A30"/>
                </a:solidFill>
                <a:latin typeface="Arial"/>
              </a:rPr>
              <a:t>Informal / rural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41648"/>
            <a:ext cx="3566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₹5 colour patch + liner</a:t>
            </a:r>
          </a:p>
        </p:txBody>
      </p:sp>
      <p:sp>
        <p:nvSpPr>
          <p:cNvPr id="25" name="Trapezoid 24"/>
          <p:cNvSpPr/>
          <p:nvPr/>
        </p:nvSpPr>
        <p:spPr>
          <a:xfrm rot="10800000">
            <a:off x="4297680" y="3566160"/>
            <a:ext cx="3566160" cy="1005840"/>
          </a:xfrm>
          <a:prstGeom prst="trapezoid">
            <a:avLst/>
          </a:prstGeom>
          <a:solidFill>
            <a:srgbClr val="EAF6EC"/>
          </a:solidFill>
          <a:ln w="6350">
            <a:solidFill>
              <a:srgbClr val="B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749039"/>
            <a:ext cx="3566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1C2A30"/>
                </a:solidFill>
                <a:latin typeface="Arial"/>
              </a:rPr>
              <a:t>Organised retail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041648"/>
            <a:ext cx="3566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film + NFC tap</a:t>
            </a:r>
          </a:p>
        </p:txBody>
      </p:sp>
      <p:sp>
        <p:nvSpPr>
          <p:cNvPr id="28" name="Trapezoid 27"/>
          <p:cNvSpPr/>
          <p:nvPr/>
        </p:nvSpPr>
        <p:spPr>
          <a:xfrm rot="10800000">
            <a:off x="8046720" y="3566160"/>
            <a:ext cx="3657600" cy="1005840"/>
          </a:xfrm>
          <a:prstGeom prst="trapezoid">
            <a:avLst/>
          </a:prstGeom>
          <a:solidFill>
            <a:srgbClr val="F7EFE4"/>
          </a:solidFill>
          <a:ln w="6350">
            <a:solidFill>
              <a:srgbClr val="B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749039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1C2A30"/>
                </a:solidFill>
                <a:latin typeface="Arial"/>
              </a:rPr>
              <a:t>Export (USA/EU/JP)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041648"/>
            <a:ext cx="3657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plastic-free ESG premium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00600"/>
            <a:ext cx="11155680" cy="685800"/>
          </a:xfrm>
          <a:prstGeom prst="roundRect">
            <a:avLst>
              <a:gd name="adj" fmla="val 5000"/>
            </a:avLst>
          </a:prstGeom>
          <a:solidFill>
            <a:srgbClr val="F7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00600"/>
            <a:ext cx="54864" cy="685800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800600"/>
            <a:ext cx="10881359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6A4A1E"/>
                </a:solidFill>
                <a:latin typeface="Arial"/>
              </a:rPr>
              <a:t>Not a premium gadget for the organised cold chain — quality &amp; safety infrastructure for the part of the food system that has none.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05 · PROTOTYPE QUALITY &amp;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A real material, an honestly-stated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54646C"/>
                </a:solidFill>
                <a:latin typeface="Arial"/>
              </a:rPr>
              <a:t>TECHNOLOGY READINESS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77640"/>
            <a:ext cx="329184" cy="320040"/>
          </a:xfrm>
          <a:prstGeom prst="rect">
            <a:avLst/>
          </a:prstGeom>
          <a:solidFill>
            <a:srgbClr val="E6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54646C"/>
                </a:solidFill>
                <a:latin typeface="Arial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3703320"/>
            <a:ext cx="329184" cy="594360"/>
          </a:xfrm>
          <a:prstGeom prst="rect">
            <a:avLst/>
          </a:prstGeom>
          <a:solidFill>
            <a:srgbClr val="E6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54646C"/>
                </a:solidFill>
                <a:latin typeface="Arial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9616" y="3291840"/>
            <a:ext cx="329184" cy="100584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9616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83664" y="3017520"/>
            <a:ext cx="329184" cy="1280160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4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2697480"/>
            <a:ext cx="329184" cy="1600200"/>
          </a:xfrm>
          <a:prstGeom prst="rect">
            <a:avLst/>
          </a:prstGeom>
          <a:solidFill>
            <a:srgbClr val="E6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67712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54646C"/>
                </a:solidFill>
                <a:latin typeface="Arial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423160"/>
            <a:ext cx="329184" cy="1874519"/>
          </a:xfrm>
          <a:prstGeom prst="rect">
            <a:avLst/>
          </a:prstGeom>
          <a:solidFill>
            <a:srgbClr val="E6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54646C"/>
                </a:solidFill>
                <a:latin typeface="Arial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5808" y="2148840"/>
            <a:ext cx="329184" cy="2148840"/>
          </a:xfrm>
          <a:prstGeom prst="rect">
            <a:avLst/>
          </a:prstGeom>
          <a:solidFill>
            <a:srgbClr val="E6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54646C"/>
                </a:solidFill>
                <a:latin typeface="Arial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9856" y="1828800"/>
            <a:ext cx="329184" cy="2468880"/>
          </a:xfrm>
          <a:prstGeom prst="rect">
            <a:avLst/>
          </a:prstGeom>
          <a:solidFill>
            <a:srgbClr val="E6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4315968"/>
            <a:ext cx="329184" cy="228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0">
                <a:solidFill>
                  <a:srgbClr val="54646C"/>
                </a:solidFill>
                <a:latin typeface="Arial"/>
              </a:rPr>
              <a:t>8-9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783080"/>
            <a:ext cx="25603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We are here — TRL 3–4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14173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1517904"/>
            <a:ext cx="31089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2E8B52"/>
                </a:solidFill>
                <a:latin typeface="Arial"/>
              </a:rPr>
              <a:t>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1810512"/>
            <a:ext cx="310896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>
                <a:solidFill>
                  <a:srgbClr val="54646C"/>
                </a:solidFill>
                <a:latin typeface="Arial"/>
              </a:rPr>
              <a:t>A cast bio-film prototype with high optical transparency and coherent, flexible film formation — the two commercially critical properties.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417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517904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D5F66"/>
                </a:solidFill>
                <a:latin typeface="Arial"/>
              </a:rPr>
              <a:t>Next (8–12 wks)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810512"/>
            <a:ext cx="32918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>
                <a:solidFill>
                  <a:srgbClr val="54646C"/>
                </a:solidFill>
                <a:latin typeface="Arial"/>
              </a:rPr>
              <a:t>Quantitative OTR/WVTR/tensile, antimicrobial assays, anthocyanin-dye calibration to TVB-N, and shrimp shelf-life trials.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0" y="3017520"/>
          <a:ext cx="71323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017520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Prototype status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Scale-up hurdle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2A30"/>
                          </a:solidFill>
                          <a:latin typeface="Arial"/>
                        </a:rPr>
                        <a:t>Transparency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A30"/>
                          </a:solidFill>
                          <a:latin typeface="Arial"/>
                        </a:rPr>
                        <a:t>High clarity, no phase separation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A30"/>
                          </a:solidFill>
                          <a:latin typeface="Arial"/>
                        </a:rPr>
                        <a:t>Hold on thin-gauge rolls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2A30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A30"/>
                          </a:solidFill>
                          <a:latin typeface="Arial"/>
                        </a:rPr>
                        <a:t>Clean edges, uniform, no cracking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A30"/>
                          </a:solidFill>
                          <a:latin typeface="Arial"/>
                        </a:rPr>
                        <a:t>Survive heat-seal / MAP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C2A30"/>
                          </a:solidFill>
                          <a:latin typeface="Arial"/>
                        </a:rPr>
                        <a:t>Resilience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A30"/>
                          </a:solidFill>
                          <a:latin typeface="Arial"/>
                        </a:rPr>
                        <a:t>Well-formed standalone sheet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2A30"/>
                          </a:solidFill>
                          <a:latin typeface="Arial"/>
                        </a:rPr>
                        <a:t>Barrier under humid cold storage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06 · VIABILITY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A cost tier for every buyer — from vendor to exporter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Criterion 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41732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36118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72768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2E8B52"/>
                </a:solidFill>
                <a:latin typeface="Arial"/>
              </a:rPr>
              <a:t>TIER 1 · BASIC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32918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E8B52"/>
                </a:solidFill>
                <a:latin typeface="Arial"/>
              </a:rPr>
              <a:t>&lt;₹5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12848"/>
            <a:ext cx="32918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anthocyanin colour patch + film → domestic retail &amp; small exporters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1732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361188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72768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06A1C"/>
                </a:solidFill>
                <a:latin typeface="Arial"/>
              </a:rPr>
              <a:t>TIER 2 · INTERMEDIATE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828800"/>
            <a:ext cx="32918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C06A1C"/>
                </a:solidFill>
                <a:latin typeface="Arial"/>
              </a:rPr>
              <a:t>₹15–40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12848"/>
            <a:ext cx="32918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film + NFC tag + freshness log → MPEDA-certified organised 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417320"/>
            <a:ext cx="361188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72768"/>
            <a:ext cx="32918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0D5F66"/>
                </a:solidFill>
                <a:latin typeface="Arial"/>
              </a:rPr>
              <a:t>TIER 3 ·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828800"/>
            <a:ext cx="329184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0D5F66"/>
                </a:solidFill>
                <a:latin typeface="Arial"/>
              </a:rPr>
              <a:t>₹60–120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12848"/>
            <a:ext cx="329184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>
                <a:solidFill>
                  <a:srgbClr val="54646C"/>
                </a:solidFill>
                <a:latin typeface="Arial"/>
              </a:rPr>
              <a:t>full smart film + digital freshness certificate → USA / EU / Japan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3840480"/>
            <a:ext cx="10515600" cy="0"/>
          </a:xfrm>
          <a:prstGeom prst="bentConnector3">
            <a:avLst/>
          </a:prstGeom>
          <a:ln w="1905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389888" y="3767328"/>
            <a:ext cx="146304" cy="146304"/>
          </a:xfrm>
          <a:prstGeom prst="ellipse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456432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Now — TRL 3–4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95020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film + dye design</a:t>
            </a:r>
          </a:p>
        </p:txBody>
      </p:sp>
      <p:sp>
        <p:nvSpPr>
          <p:cNvPr id="29" name="Oval 28"/>
          <p:cNvSpPr/>
          <p:nvPr/>
        </p:nvSpPr>
        <p:spPr>
          <a:xfrm>
            <a:off x="4681728" y="3767328"/>
            <a:ext cx="146304" cy="146304"/>
          </a:xfrm>
          <a:prstGeom prst="ellipse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456432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2E8B52"/>
                </a:solidFill>
                <a:latin typeface="Arial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95020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shelf-life + dye calibration</a:t>
            </a:r>
          </a:p>
        </p:txBody>
      </p:sp>
      <p:sp>
        <p:nvSpPr>
          <p:cNvPr id="32" name="Oval 31"/>
          <p:cNvSpPr/>
          <p:nvPr/>
        </p:nvSpPr>
        <p:spPr>
          <a:xfrm>
            <a:off x="7973568" y="3767328"/>
            <a:ext cx="146304" cy="146304"/>
          </a:xfrm>
          <a:prstGeom prst="ellipse">
            <a:avLst/>
          </a:prstGeom>
          <a:solidFill>
            <a:srgbClr val="128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456432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12868A"/>
                </a:solidFill>
                <a:latin typeface="Arial"/>
              </a:rPr>
              <a:t>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95020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landing-centre trial + WTP</a:t>
            </a:r>
          </a:p>
        </p:txBody>
      </p:sp>
      <p:sp>
        <p:nvSpPr>
          <p:cNvPr id="35" name="Oval 34"/>
          <p:cNvSpPr/>
          <p:nvPr/>
        </p:nvSpPr>
        <p:spPr>
          <a:xfrm>
            <a:off x="11265408" y="3767328"/>
            <a:ext cx="146304" cy="146304"/>
          </a:xfrm>
          <a:prstGeom prst="ellipse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3456432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C06A1C"/>
                </a:solidFill>
                <a:latin typeface="Arial"/>
              </a:rPr>
              <a:t>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3950208"/>
            <a:ext cx="23774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0">
                <a:solidFill>
                  <a:srgbClr val="54646C"/>
                </a:solidFill>
                <a:latin typeface="Arial"/>
              </a:rPr>
              <a:t>roll-to-roll · export tier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526280"/>
            <a:ext cx="11155680" cy="685800"/>
          </a:xfrm>
          <a:prstGeom prst="roundRect">
            <a:avLst>
              <a:gd name="adj" fmla="val 5000"/>
            </a:avLst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526280"/>
            <a:ext cx="54864" cy="685800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526280"/>
            <a:ext cx="10881359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164A4D"/>
                </a:solidFill>
                <a:latin typeface="Arial"/>
              </a:rPr>
              <a:t>Who pays: shrimp farmers, exporters/MPEDA units, processors &amp; retailers — the actors who absorb the spoilage loss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0D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840480" cy="64008"/>
          </a:xfrm>
          <a:prstGeom prst="rect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3566160" cy="64008"/>
          </a:xfrm>
          <a:prstGeom prst="rect">
            <a:avLst/>
          </a:prstGeom>
          <a:solidFill>
            <a:srgbClr val="C0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D5F66"/>
                </a:solidFill>
                <a:latin typeface="Arial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102412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C2A30"/>
                </a:solidFill>
                <a:latin typeface="Arial"/>
              </a:rPr>
              <a:t>Every judging criterion, 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"/>
            <a:ext cx="1554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>
                <a:solidFill>
                  <a:srgbClr val="8A9AA0"/>
                </a:solidFill>
                <a:latin typeface="Arial"/>
              </a:rPr>
              <a:t>Scorecard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5DF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15568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961120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SensoPack's answer</a:t>
                      </a:r>
                    </a:p>
                  </a:txBody>
                  <a:tcPr marL="63500" marR="63500" marT="25400" marB="25400" anchor="ctr">
                    <a:solidFill>
                      <a:srgbClr val="0D5F6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A30"/>
                          </a:solidFill>
                          <a:latin typeface="Arial"/>
                        </a:rPr>
                        <a:t>1 · Problem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A30"/>
                          </a:solidFill>
                          <a:latin typeface="Arial"/>
                        </a:rPr>
                        <a:t>India's ₹62,408 cr shrimp export bleeds ~₹15,000 cr to spoilage — scoped to the unrefrigerated segment others ignore.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A30"/>
                          </a:solidFill>
                          <a:latin typeface="Arial"/>
                        </a:rPr>
                        <a:t>2 · Originality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A30"/>
                          </a:solidFill>
                          <a:latin typeface="Arial"/>
                        </a:rPr>
                        <a:t>The only solution that protects and senses in one biodegradable, circular, naked-eye-affordable package.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A30"/>
                          </a:solidFill>
                          <a:latin typeface="Arial"/>
                        </a:rPr>
                        <a:t>3 · Soundness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A30"/>
                          </a:solidFill>
                          <a:latin typeface="Arial"/>
                        </a:rPr>
                        <a:t>Chitosan-EO shelf-life (8→16 d) + anthocyanin sensing keyed to accepted TVB-N/TMA thresholds — one sensor, not five.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A30"/>
                          </a:solidFill>
                          <a:latin typeface="Arial"/>
                        </a:rPr>
                        <a:t>4 · Impact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A30"/>
                          </a:solidFill>
                          <a:latin typeface="Arial"/>
                        </a:rPr>
                        <a:t>Export earnings protected, formalin displaced, waste recovered — across three market tiers.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A30"/>
                          </a:solidFill>
                          <a:latin typeface="Arial"/>
                        </a:rPr>
                        <a:t>5 · Prototype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A30"/>
                          </a:solidFill>
                          <a:latin typeface="Arial"/>
                        </a:rPr>
                        <a:t>A real cast-film prototype at TRL 3–4 with a concrete validation roadmap — stated honestly.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2A30"/>
                          </a:solidFill>
                          <a:latin typeface="Arial"/>
                        </a:rPr>
                        <a:t>6 · Viability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2A30"/>
                          </a:solidFill>
                          <a:latin typeface="Arial"/>
                        </a:rPr>
                        <a:t>&lt;₹5 to ₹120 cost tiers, capital-light, staged from wet market to premium export.</a:t>
                      </a:r>
                    </a:p>
                  </a:txBody>
                  <a:tcPr marL="63500" marR="63500" marT="25400" marB="25400" anchor="ctr"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11" name="Pentagon 10"/>
          <p:cNvSpPr/>
          <p:nvPr/>
        </p:nvSpPr>
        <p:spPr>
          <a:xfrm rot="5400000">
            <a:off x="548640" y="4892040"/>
            <a:ext cx="685800" cy="685800"/>
          </a:xfrm>
          <a:prstGeom prst="homePlate">
            <a:avLst/>
          </a:prstGeom>
          <a:solidFill>
            <a:srgbClr val="2E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54380" y="5248655"/>
            <a:ext cx="102870" cy="96013"/>
          </a:xfrm>
          <a:prstGeom prst="bentConnector3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57250" y="5138927"/>
            <a:ext cx="185166" cy="205741"/>
          </a:xfrm>
          <a:prstGeom prst="bentConnector3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17320" y="4937760"/>
            <a:ext cx="6400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0D5F66"/>
                </a:solidFill>
                <a:latin typeface="Arial"/>
              </a:rPr>
              <a:t>Protect. Sense. Sustain.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349240"/>
            <a:ext cx="100584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54646C"/>
                </a:solidFill>
                <a:latin typeface="Arial"/>
              </a:rPr>
              <a:t>SensoPack — affordable, biodegradable smart packaging keeping India's shrimp safe, fresh and saleable.  ·  Team Sentinel ·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